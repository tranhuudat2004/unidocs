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126" r:id="rId1"/>
  </p:sldMasterIdLst>
  <p:notesMasterIdLst>
    <p:notesMasterId r:id="rId22"/>
  </p:notesMasterIdLst>
  <p:handoutMasterIdLst>
    <p:handoutMasterId r:id="rId23"/>
  </p:handoutMasterIdLst>
  <p:sldIdLst>
    <p:sldId id="514" r:id="rId2"/>
    <p:sldId id="525" r:id="rId3"/>
    <p:sldId id="539" r:id="rId4"/>
    <p:sldId id="517" r:id="rId5"/>
    <p:sldId id="540" r:id="rId6"/>
    <p:sldId id="529" r:id="rId7"/>
    <p:sldId id="542" r:id="rId8"/>
    <p:sldId id="543" r:id="rId9"/>
    <p:sldId id="532" r:id="rId10"/>
    <p:sldId id="528" r:id="rId11"/>
    <p:sldId id="519" r:id="rId12"/>
    <p:sldId id="530" r:id="rId13"/>
    <p:sldId id="531" r:id="rId14"/>
    <p:sldId id="520" r:id="rId15"/>
    <p:sldId id="534" r:id="rId16"/>
    <p:sldId id="538" r:id="rId17"/>
    <p:sldId id="533" r:id="rId18"/>
    <p:sldId id="535" r:id="rId19"/>
    <p:sldId id="537" r:id="rId20"/>
    <p:sldId id="524" r:id="rId21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CFF"/>
    <a:srgbClr val="CCFFFF"/>
    <a:srgbClr val="006600"/>
    <a:srgbClr val="FFFFCC"/>
    <a:srgbClr val="FFFF66"/>
    <a:srgbClr val="FFFF99"/>
    <a:srgbClr val="99FF99"/>
    <a:srgbClr val="66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30" autoAdjust="0"/>
    <p:restoredTop sz="86683" autoAdjust="0"/>
  </p:normalViewPr>
  <p:slideViewPr>
    <p:cSldViewPr snapToGrid="0">
      <p:cViewPr varScale="1">
        <p:scale>
          <a:sx n="122" d="100"/>
          <a:sy n="122" d="100"/>
        </p:scale>
        <p:origin x="206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842" y="-1236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>
                <a:latin typeface="+mn-lt"/>
              </a:rPr>
              <a:t>Computer Organisation</a:t>
            </a:r>
            <a:endParaRPr lang="en-GB" dirty="0">
              <a:latin typeface="+mn-lt"/>
            </a:endParaRP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8/25/22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Computer Organisation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D49F41-42BD-4A7F-84D4-B4F7E48B4FCD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Organisation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598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EEC65E-1858-480A-92B2-78A9CEE8210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Organisation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685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D49F41-42BD-4A7F-84D4-B4F7E48B4FCD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Organisation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077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EEC65E-1858-480A-92B2-78A9CEE8210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Organisation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51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4AAD40-3214-42F6-A612-8D530F5A16A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Organisation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361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4AAD40-3214-42F6-A612-8D530F5A16A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Organisation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618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4AAD40-3214-42F6-A612-8D530F5A16A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Organisation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087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4AAD40-3214-42F6-A612-8D530F5A16A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Organisation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894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4AAD40-3214-42F6-A612-8D530F5A16A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Organisation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312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4AAD40-3214-42F6-A612-8D530F5A16A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Organisation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241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160" y="8829936"/>
            <a:ext cx="3038604" cy="464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285" tIns="45642" rIns="91285" bIns="45642" anchor="b"/>
          <a:lstStyle/>
          <a:p>
            <a:pPr algn="r"/>
            <a:fld id="{B24EEDEF-913F-4018-BFBB-D404C920B857}" type="slidenum">
              <a:rPr lang="en-US" sz="1200"/>
              <a:pPr algn="r"/>
              <a:t>14</a:t>
            </a:fld>
            <a:endParaRPr lang="en-US" sz="1200" dirty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Organisation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D49F41-42BD-4A7F-84D4-B4F7E48B4FCD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6245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D49F41-42BD-4A7F-84D4-B4F7E48B4FCD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Organisation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15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D49F41-42BD-4A7F-84D4-B4F7E48B4FCD}" type="slidenum">
              <a:rPr lang="en-GB" smtClean="0"/>
              <a:pPr>
                <a:defRPr/>
              </a:pPr>
              <a:t>16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Organisation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5064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D49F41-42BD-4A7F-84D4-B4F7E48B4FCD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Organisation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9083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D49F41-42BD-4A7F-84D4-B4F7E48B4FCD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Organisation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4428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D49F41-42BD-4A7F-84D4-B4F7E48B4FCD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Organisation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3427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C2A54D-1D0B-40AA-83E8-AAB794D1CD4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Organisation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929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18/12/2015</a:t>
            </a:r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 dirty="0"/>
              <a:t>- INTRODUCTION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18/12/2015</a:t>
            </a:r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 dirty="0"/>
              <a:t>- INTRODUCTION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18/12/2015</a:t>
            </a:r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 dirty="0"/>
              <a:t>- INTRODUCTION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18/12/2015</a:t>
            </a:r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 dirty="0"/>
              <a:t>- INTRODUCTION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18/12/2015</a:t>
            </a:r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 dirty="0"/>
              <a:t>- INTRODUCTION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18/12/2015</a:t>
            </a:r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 dirty="0"/>
              <a:t>- INTRODUCTION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18/12/2015</a:t>
            </a:r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 dirty="0"/>
              <a:t>- INTRODUCTION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18/12/2015</a:t>
            </a:r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 dirty="0"/>
              <a:t>- INTRODUCTION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18/12/2015</a:t>
            </a:r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 dirty="0"/>
              <a:t>- INTRODUCTION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18/12/2015</a:t>
            </a:r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 dirty="0"/>
              <a:t>- INTRODUCTION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18/12/2015</a:t>
            </a:r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 dirty="0"/>
              <a:t>- INTRODUCTION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18/12/2015</a:t>
            </a: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 dirty="0"/>
              <a:t>- INTRODUCTION</a:t>
            </a:r>
            <a:endParaRPr lang="en-US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EE0E28-F272-45CD-B7FF-2710AAB69A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18/12/2015</a:t>
            </a:r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</a:t>
            </a:r>
            <a:r>
              <a:rPr lang="en-US" dirty="0"/>
              <a:t> - INTRODUCTION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27" r:id="rId1"/>
    <p:sldLayoutId id="2147485128" r:id="rId2"/>
    <p:sldLayoutId id="2147485129" r:id="rId3"/>
    <p:sldLayoutId id="2147485130" r:id="rId4"/>
    <p:sldLayoutId id="2147485131" r:id="rId5"/>
    <p:sldLayoutId id="2147485132" r:id="rId6"/>
    <p:sldLayoutId id="2147485133" r:id="rId7"/>
    <p:sldLayoutId id="2147485134" r:id="rId8"/>
    <p:sldLayoutId id="2147485135" r:id="rId9"/>
    <p:sldLayoutId id="2147485136" r:id="rId10"/>
    <p:sldLayoutId id="2147485137" r:id="rId11"/>
    <p:sldLayoutId id="2147485138" r:id="rId12"/>
  </p:sldLayoutIdLst>
  <p:transition>
    <p:fade/>
  </p:transition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worldofleveldesign.com/categories/cat_3dmodeling.php" TargetMode="External"/><Relationship Id="rId3" Type="http://schemas.openxmlformats.org/officeDocument/2006/relationships/hyperlink" Target="http://arivu.d2.comp.nus.edu.sg/game/" TargetMode="External"/><Relationship Id="rId7" Type="http://schemas.openxmlformats.org/officeDocument/2006/relationships/hyperlink" Target="http://unity3d.com/support/resources/tutorials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gamedev.net/" TargetMode="External"/><Relationship Id="rId5" Type="http://schemas.openxmlformats.org/officeDocument/2006/relationships/hyperlink" Target="http://www.gamasutra.com/" TargetMode="External"/><Relationship Id="rId4" Type="http://schemas.openxmlformats.org/officeDocument/2006/relationships/hyperlink" Target="http://arivu.d2.comp.nus.edu.sg/games/" TargetMode="External"/><Relationship Id="rId9" Type="http://schemas.openxmlformats.org/officeDocument/2006/relationships/hyperlink" Target="http://www.hongkiat.com/blog/100-maya-3d-tutorials-beginners-intermediate-advanced-users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695992"/>
            <a:ext cx="9144000" cy="1479122"/>
          </a:xfrm>
        </p:spPr>
        <p:txBody>
          <a:bodyPr>
            <a:noAutofit/>
          </a:bodyPr>
          <a:lstStyle/>
          <a:p>
            <a:r>
              <a:rPr lang="vi-VN" sz="35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Arial" pitchFamily="34" charset="0"/>
              </a:rPr>
              <a:t>Phát triển trò chơi</a:t>
            </a:r>
            <a:br>
              <a:rPr lang="en-US" sz="35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cs typeface="Arial" pitchFamily="34" charset="0"/>
              </a:rPr>
            </a:b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GAME DEVELOPMENT</a:t>
            </a:r>
            <a:br>
              <a:rPr lang="en-US" sz="3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504076</a:t>
            </a:r>
          </a:p>
        </p:txBody>
      </p:sp>
      <p:sp>
        <p:nvSpPr>
          <p:cNvPr id="9" name="[TextBox 7]"/>
          <p:cNvSpPr txBox="1"/>
          <p:nvPr/>
        </p:nvSpPr>
        <p:spPr>
          <a:xfrm>
            <a:off x="1" y="3781012"/>
            <a:ext cx="9143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GIỚI THIỆU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127" y="670904"/>
            <a:ext cx="1747742" cy="96512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820975028"/>
      </p:ext>
    </p:extLst>
  </p:cSld>
  <p:clrMapOvr>
    <a:masterClrMapping/>
  </p:clrMapOvr>
  <p:transition>
    <p:diamond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THÔNG TIN CHUNG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57016" cy="45259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latin typeface="Arial" pitchFamily="34" charset="0"/>
                <a:cs typeface="Arial" pitchFamily="34" charset="0"/>
              </a:rPr>
              <a:t>Tên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môn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học</a:t>
            </a:r>
            <a:r>
              <a:rPr lang="en-US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28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Phát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triển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trò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chơi</a:t>
            </a:r>
            <a:endParaRPr lang="en-U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dirty="0" err="1">
                <a:latin typeface="Arial" pitchFamily="34" charset="0"/>
                <a:cs typeface="Arial" pitchFamily="34" charset="0"/>
              </a:rPr>
              <a:t>Mã</a:t>
            </a:r>
            <a:r>
              <a:rPr lang="en-US" dirty="0">
                <a:latin typeface="Arial" pitchFamily="34" charset="0"/>
                <a:cs typeface="Arial" pitchFamily="34" charset="0"/>
              </a:rPr>
              <a:t> MH: 504076</a:t>
            </a:r>
          </a:p>
          <a:p>
            <a:pPr algn="just">
              <a:lnSpc>
                <a:spcPct val="90000"/>
              </a:lnSpc>
            </a:pPr>
            <a:r>
              <a:rPr lang="en-US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tín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chỉ</a:t>
            </a:r>
            <a:r>
              <a:rPr lang="en-US" dirty="0">
                <a:latin typeface="Arial" pitchFamily="34" charset="0"/>
                <a:cs typeface="Arial" pitchFamily="34" charset="0"/>
              </a:rPr>
              <a:t>:  3 (2.1)</a:t>
            </a:r>
          </a:p>
          <a:p>
            <a:pPr algn="just">
              <a:lnSpc>
                <a:spcPct val="90000"/>
              </a:lnSpc>
            </a:pPr>
            <a:r>
              <a:rPr lang="vi-VN" dirty="0">
                <a:cs typeface="Arial" pitchFamily="34" charset="0"/>
              </a:rPr>
              <a:t>Môn học trước: Công nghệ phần mềm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dirty="0" err="1">
                <a:latin typeface="Arial" pitchFamily="34" charset="0"/>
                <a:cs typeface="Arial" pitchFamily="34" charset="0"/>
              </a:rPr>
              <a:t>Mục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tiêu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môn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học</a:t>
            </a:r>
            <a:r>
              <a:rPr lang="en-US" dirty="0">
                <a:latin typeface="Arial" pitchFamily="34" charset="0"/>
                <a:cs typeface="Arial" pitchFamily="34" charset="0"/>
              </a:rPr>
              <a:t>:</a:t>
            </a:r>
          </a:p>
          <a:p>
            <a:pPr lvl="1" algn="just">
              <a:lnSpc>
                <a:spcPct val="90000"/>
              </a:lnSpc>
            </a:pPr>
            <a:r>
              <a:rPr lang="en-US" dirty="0" err="1">
                <a:latin typeface="Arial" pitchFamily="34" charset="0"/>
                <a:cs typeface="Arial" pitchFamily="34" charset="0"/>
              </a:rPr>
              <a:t>Tạo</a:t>
            </a:r>
            <a:r>
              <a:rPr lang="en-US" dirty="0">
                <a:latin typeface="Arial" pitchFamily="34" charset="0"/>
                <a:cs typeface="Arial" pitchFamily="34" charset="0"/>
              </a:rPr>
              <a:t> game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độc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lập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đồng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thời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làm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nền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tảng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cho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công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việc</a:t>
            </a:r>
            <a:r>
              <a:rPr lang="en-US" dirty="0">
                <a:latin typeface="Arial" pitchFamily="34" charset="0"/>
                <a:cs typeface="Arial" pitchFamily="34" charset="0"/>
              </a:rPr>
              <a:t> ở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dirty="0">
                <a:latin typeface="Arial" pitchFamily="34" charset="0"/>
                <a:cs typeface="Arial" pitchFamily="34" charset="0"/>
              </a:rPr>
              <a:t> game studio.</a:t>
            </a:r>
          </a:p>
          <a:p>
            <a:pPr lvl="2" algn="just">
              <a:lnSpc>
                <a:spcPct val="90000"/>
              </a:lnSpc>
            </a:pPr>
            <a:r>
              <a:rPr lang="en-US" dirty="0" err="1">
                <a:latin typeface="Arial" pitchFamily="34" charset="0"/>
                <a:cs typeface="Arial" pitchFamily="34" charset="0"/>
              </a:rPr>
              <a:t>Kết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thúc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khóa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học</a:t>
            </a:r>
            <a:r>
              <a:rPr lang="en-US" dirty="0">
                <a:latin typeface="Arial" pitchFamily="34" charset="0"/>
                <a:cs typeface="Arial" pitchFamily="34" charset="0"/>
              </a:rPr>
              <a:t>: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một</a:t>
            </a:r>
            <a:r>
              <a:rPr lang="en-US" dirty="0">
                <a:latin typeface="Arial" pitchFamily="34" charset="0"/>
                <a:cs typeface="Arial" pitchFamily="34" charset="0"/>
              </a:rPr>
              <a:t> game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khá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tốt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cho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mình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lvl="1" algn="just">
              <a:lnSpc>
                <a:spcPct val="90000"/>
              </a:lnSpc>
            </a:pPr>
            <a:r>
              <a:rPr lang="en-US" dirty="0" err="1">
                <a:latin typeface="Arial" pitchFamily="34" charset="0"/>
                <a:cs typeface="Arial" pitchFamily="34" charset="0"/>
              </a:rPr>
              <a:t>Làm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việc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trên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dự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án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lvl="2" algn="just">
              <a:lnSpc>
                <a:spcPct val="90000"/>
              </a:lnSpc>
            </a:pPr>
            <a:r>
              <a:rPr lang="en-US" dirty="0" err="1">
                <a:latin typeface="Arial" pitchFamily="34" charset="0"/>
                <a:cs typeface="Arial" pitchFamily="34" charset="0"/>
              </a:rPr>
              <a:t>Nghiên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cứu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chủ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đề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lọc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chuyên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sâu</a:t>
            </a:r>
            <a:r>
              <a:rPr lang="en-US" dirty="0">
                <a:latin typeface="Arial" pitchFamily="34" charset="0"/>
                <a:cs typeface="Arial" pitchFamily="34" charset="0"/>
              </a:rPr>
              <a:t> qua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dự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án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lvl="1" algn="just">
              <a:lnSpc>
                <a:spcPct val="90000"/>
              </a:lnSpc>
            </a:pPr>
            <a:r>
              <a:rPr lang="en-US" dirty="0" err="1">
                <a:latin typeface="Arial" pitchFamily="34" charset="0"/>
                <a:cs typeface="Arial" pitchFamily="34" charset="0"/>
              </a:rPr>
              <a:t>Sử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dụng</a:t>
            </a:r>
            <a:r>
              <a:rPr lang="en-US" dirty="0">
                <a:latin typeface="Arial" pitchFamily="34" charset="0"/>
                <a:cs typeface="Arial" pitchFamily="34" charset="0"/>
              </a:rPr>
              <a:t> Maya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en-US" dirty="0">
                <a:latin typeface="Arial" pitchFamily="34" charset="0"/>
                <a:cs typeface="Arial" pitchFamily="34" charset="0"/>
              </a:rPr>
              <a:t> Unity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xây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dựng</a:t>
            </a:r>
            <a:r>
              <a:rPr lang="en-US" dirty="0">
                <a:latin typeface="Arial" pitchFamily="34" charset="0"/>
                <a:cs typeface="Arial" pitchFamily="34" charset="0"/>
              </a:rPr>
              <a:t> game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504024 - INTRODUCTION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giáo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Thầy</a:t>
            </a:r>
            <a:r>
              <a:rPr lang="en-US" dirty="0"/>
              <a:t> </a:t>
            </a:r>
            <a:r>
              <a:rPr lang="en-US" dirty="0" err="1"/>
              <a:t>Vũ</a:t>
            </a:r>
            <a:r>
              <a:rPr lang="en-US" dirty="0"/>
              <a:t> </a:t>
            </a:r>
            <a:r>
              <a:rPr lang="en-US" dirty="0" err="1"/>
              <a:t>Đình</a:t>
            </a:r>
            <a:r>
              <a:rPr lang="en-US" dirty="0"/>
              <a:t> </a:t>
            </a:r>
            <a:r>
              <a:rPr lang="en-US" dirty="0" err="1"/>
              <a:t>Hồng</a:t>
            </a:r>
            <a:endParaRPr lang="en-US" dirty="0"/>
          </a:p>
          <a:p>
            <a:r>
              <a:rPr lang="en-US" dirty="0"/>
              <a:t>Email: vdhong@it.tdt.edu.vn</a:t>
            </a:r>
          </a:p>
          <a:p>
            <a:r>
              <a:rPr lang="en-US" dirty="0"/>
              <a:t>            </a:t>
            </a:r>
            <a:r>
              <a:rPr lang="en-US" dirty="0" err="1"/>
              <a:t>vudinhhong@tdtu.edu.vn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/>
              <a:t>- 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66473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Is it right for you?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Bạn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chơi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game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?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Bạn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đam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mê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thiết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kế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game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riêng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mình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?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Team work - Software Engineering (version control,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etc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).</a:t>
            </a:r>
          </a:p>
          <a:p>
            <a:pPr algn="just">
              <a:lnSpc>
                <a:spcPct val="90000"/>
              </a:lnSpc>
            </a:pP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Đồ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cuối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kỳ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chuyên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sâu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(50%) –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chính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cái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tạo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ra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kinh</a:t>
            </a:r>
            <a:r>
              <a:rPr lang="en-US" sz="28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nghiệm</a:t>
            </a:r>
            <a:endParaRPr lang="en-US" sz="2800" dirty="0">
              <a:solidFill>
                <a:srgbClr val="800000"/>
              </a:solidFill>
              <a:latin typeface="Arial" pitchFamily="34" charset="0"/>
              <a:cs typeface="Arial" pitchFamily="34" charset="0"/>
            </a:endParaRPr>
          </a:p>
          <a:p>
            <a:pPr lvl="1" algn="just">
              <a:lnSpc>
                <a:spcPct val="90000"/>
              </a:lnSpc>
            </a:pPr>
            <a:r>
              <a:rPr lang="en-US" sz="24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Nhấn</a:t>
            </a:r>
            <a:r>
              <a:rPr lang="en-US" sz="2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mạnh</a:t>
            </a:r>
            <a:r>
              <a:rPr lang="en-US" sz="2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cả</a:t>
            </a:r>
            <a:r>
              <a:rPr lang="en-US" sz="2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thiết</a:t>
            </a:r>
            <a:r>
              <a:rPr lang="en-US" sz="2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kế</a:t>
            </a:r>
            <a:r>
              <a:rPr lang="en-US" sz="2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sz="2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kỹ</a:t>
            </a:r>
            <a:r>
              <a:rPr lang="en-US" sz="2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thuật</a:t>
            </a:r>
            <a:endParaRPr lang="en-US" sz="2400" dirty="0">
              <a:solidFill>
                <a:srgbClr val="8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504024 - INTRODUCTION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D06D5-C38F-6143-943B-380B24466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TEXTBOOKS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07B9B-9E6D-064F-BF5B-682B82126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3434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[1] Matt Smith, Chico Queiroz, [2015], Unity 5.x Cookbook, </a:t>
            </a:r>
            <a:r>
              <a:rPr lang="en-US" dirty="0" err="1"/>
              <a:t>Packt</a:t>
            </a:r>
            <a:r>
              <a:rPr lang="en-US" dirty="0"/>
              <a:t> Publishing, Birmingham.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FC4FA9-BF39-0F45-8D2F-A299F682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/>
              <a:t>- INTRODUCTION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174A39-45AE-7249-BF97-978F2355E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00" y="1620687"/>
            <a:ext cx="3784600" cy="450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97505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TEXTBOOKS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idx="1"/>
          </p:nvPr>
        </p:nvSpPr>
        <p:spPr>
          <a:xfrm>
            <a:off x="457199" y="1600200"/>
            <a:ext cx="5209083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[2] Jeremy Gibson, [2014], Introduction to Game Design, Prototyping, and Development: From Concept to Playable Game with Unity and C#, 1</a:t>
            </a:r>
            <a:r>
              <a:rPr 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nd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 edition, Addison-Wesley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Professional.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ISBN: 978-0321933164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504024 - INTRODUCTION</a:t>
            </a:r>
            <a:endParaRPr lang="en-US" altLang="en-US" dirty="0"/>
          </a:p>
        </p:txBody>
      </p:sp>
      <p:pic>
        <p:nvPicPr>
          <p:cNvPr id="4098" name="Picture 2" descr="https://images-na.ssl-images-amazon.com/images/I/51a1H7sco8L._SX366_BO1,204,203,200_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8918" y="1510506"/>
            <a:ext cx="3505200" cy="4752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6806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D06D5-C38F-6143-943B-380B24466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TEXTBOOKS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07B9B-9E6D-064F-BF5B-682B82126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3434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[3] Ray Barrera, Aung </a:t>
            </a:r>
            <a:r>
              <a:rPr lang="en-US" dirty="0" err="1"/>
              <a:t>Sithu</a:t>
            </a:r>
            <a:r>
              <a:rPr lang="en-US" dirty="0"/>
              <a:t> Kyaw, Clifford Peters, </a:t>
            </a:r>
            <a:r>
              <a:rPr lang="en-US" dirty="0" err="1"/>
              <a:t>Thet</a:t>
            </a:r>
            <a:r>
              <a:rPr lang="en-US" dirty="0"/>
              <a:t> Naing </a:t>
            </a:r>
            <a:r>
              <a:rPr lang="en-US" dirty="0" err="1"/>
              <a:t>Swe</a:t>
            </a:r>
            <a:r>
              <a:rPr lang="en-US" dirty="0"/>
              <a:t>, [2015], Unity AI Game Programming, </a:t>
            </a:r>
            <a:r>
              <a:rPr lang="en-US" dirty="0" err="1"/>
              <a:t>Packt</a:t>
            </a:r>
            <a:r>
              <a:rPr lang="en-US" dirty="0"/>
              <a:t> Publishing, Birmingham.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FC4FA9-BF39-0F45-8D2F-A299F682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/>
              <a:t>- INTRODUCTION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4E128A-085C-664C-951D-9778537CF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700" y="1595676"/>
            <a:ext cx="3721100" cy="458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66428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D06D5-C38F-6143-943B-380B24466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TEXTBOOKS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07B9B-9E6D-064F-BF5B-682B82126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3434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[4] Alan Thorn, [2016], Unity 5.x By Example, </a:t>
            </a:r>
            <a:r>
              <a:rPr lang="en-US" dirty="0" err="1"/>
              <a:t>Packt</a:t>
            </a:r>
            <a:r>
              <a:rPr lang="en-US" dirty="0"/>
              <a:t> Publishing, Birmingham.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FC4FA9-BF39-0F45-8D2F-A299F682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/>
              <a:t>- INTRODUCTION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1728CF-68F5-ED47-8206-1792D3B8B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450" y="1647824"/>
            <a:ext cx="3638550" cy="44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4231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TEXTBOOKS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4264702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[5] Ian Millington and John </a:t>
            </a:r>
            <a:r>
              <a:rPr lang="en-US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Funge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, [2009], Artificial intelligence for games, 2</a:t>
            </a:r>
            <a:r>
              <a:rPr 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nd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 edition, Morgan Kaufmann/Elsevier.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ISBN: 9780123747310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504024 - INTRODUCTION</a:t>
            </a:r>
            <a:endParaRPr lang="en-US" altLang="en-US" dirty="0"/>
          </a:p>
        </p:txBody>
      </p:sp>
      <p:pic>
        <p:nvPicPr>
          <p:cNvPr id="5122" name="Picture 2" descr="https://images-na.ssl-images-amazon.com/images/I/41UAR9-mTzL._SX390_BO1,204,203,200_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417638"/>
            <a:ext cx="3733800" cy="4752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7512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TEXTBOOKS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4264702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[1] Steve Rabin, [2010], Introduction to Game Development, 2</a:t>
            </a:r>
            <a:r>
              <a:rPr 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nd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 edition, Cengage Learning.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ISBN:9781584506799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504024 - INTRODUCTION</a:t>
            </a:r>
            <a:endParaRPr lang="en-US" altLang="en-US" dirty="0"/>
          </a:p>
        </p:txBody>
      </p:sp>
      <p:pic>
        <p:nvPicPr>
          <p:cNvPr id="1026" name="Picture 2" descr="https://images-na.ssl-images-amazon.com/images/I/513wSm4MxfL._SX402_BO1,204,203,200_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1363663"/>
            <a:ext cx="38481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55114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TEXTBOOKS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4264702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[2] Jesse Schell, [2008], The Art of Game Design - A book of Lenses, 1</a:t>
            </a:r>
            <a:r>
              <a:rPr 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nd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 edition, Morgan Kaufmann.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ISBN: 0123694965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504024 - INTRODUCTION</a:t>
            </a:r>
            <a:endParaRPr lang="en-US" altLang="en-US" dirty="0"/>
          </a:p>
        </p:txBody>
      </p:sp>
      <p:pic>
        <p:nvPicPr>
          <p:cNvPr id="1028" name="Picture 4" descr="https://images-na.ssl-images-amazon.com/images/I/41HuScXUcwL._SX353_BO1,204,203,200_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425" y="1417638"/>
            <a:ext cx="3381375" cy="4752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TEXTBOOKS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4264702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[4] Fletcher Dunn and Ian </a:t>
            </a:r>
            <a:r>
              <a:rPr lang="en-US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Parberry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, [2002], 3D Math Primer for Graphics and Game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Development, 1</a:t>
            </a:r>
            <a:r>
              <a:rPr 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nd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 edition, </a:t>
            </a:r>
            <a:r>
              <a:rPr lang="en-US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Wordware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ISBN: 1556229119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504024 - INTRODUCTION</a:t>
            </a:r>
            <a:endParaRPr lang="en-US" altLang="en-US" dirty="0"/>
          </a:p>
        </p:txBody>
      </p:sp>
      <p:pic>
        <p:nvPicPr>
          <p:cNvPr id="3074" name="Picture 2" descr="https://images-na.ssl-images-amazon.com/images/I/51Ddxd2CKiL._SX405_BO1,204,203,200_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1417638"/>
            <a:ext cx="3876675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61897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TEXTBOOKS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4264702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[5] Ian Millington, [2010], Game Physics Engine Development, 2</a:t>
            </a:r>
            <a:r>
              <a:rPr 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nd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 edition, Morgan Kaufmann.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ISBN: 9780123819765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504024 - INTRODUCTION</a:t>
            </a:r>
            <a:endParaRPr lang="en-US" altLang="en-US" dirty="0"/>
          </a:p>
        </p:txBody>
      </p:sp>
      <p:pic>
        <p:nvPicPr>
          <p:cNvPr id="6146" name="Picture 2" descr="https://images-na.ssl-images-amazon.com/images/I/518Wy9iCiaL._SX402_BO1,204,203,200_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1417638"/>
            <a:ext cx="38481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9540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COURSE MATERIALS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You can find all lectures, tutorials, labs and solutions on Classroom</a:t>
            </a:r>
          </a:p>
          <a:p>
            <a:pPr algn="just"/>
            <a:r>
              <a:rPr lang="en-US" sz="2800" dirty="0">
                <a:latin typeface="Arial" pitchFamily="34" charset="0"/>
                <a:cs typeface="Arial" pitchFamily="34" charset="0"/>
              </a:rPr>
              <a:t>Tutorials and labs will start in week 3</a:t>
            </a:r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504024 - INTRODUCTION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ASSESSMENT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10% - Practice</a:t>
            </a: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20% - Mid-term exam Assignment</a:t>
            </a: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20% - Labs</a:t>
            </a: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50% - Final project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…</a:t>
            </a:r>
          </a:p>
          <a:p>
            <a:pPr lvl="1"/>
            <a:r>
              <a:rPr lang="en-US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kiểm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soát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quá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trình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làm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bài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tập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lớn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đồ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/>
              <a:t>- 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09479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Lưu</a:t>
            </a:r>
            <a:r>
              <a:rPr lang="en-US"/>
              <a:t> 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vi-VN" dirty="0"/>
              <a:t>LƯU Ý: Sinh viên phải nộp bài tập lớn theo tiến độ: </a:t>
            </a:r>
            <a:r>
              <a:rPr lang="vi-VN" b="1" dirty="0"/>
              <a:t>tuần thứ 5, tuần thứ 8 và tuần thứ 10</a:t>
            </a:r>
            <a:r>
              <a:rPr lang="vi-VN" dirty="0"/>
              <a:t> tính từ ngày thông báo bài tập lớn.</a:t>
            </a:r>
          </a:p>
          <a:p>
            <a:pPr marL="0" indent="0">
              <a:buNone/>
            </a:pPr>
            <a:r>
              <a:rPr lang="vi-VN" dirty="0"/>
              <a:t>1. Sinh viên bị điểm 0 bài tập 10%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vi-VN" dirty="0"/>
              <a:t>50%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vi-VN" dirty="0"/>
              <a:t>-&gt; cấm thi</a:t>
            </a:r>
          </a:p>
          <a:p>
            <a:pPr marL="0" indent="0">
              <a:buNone/>
            </a:pPr>
            <a:r>
              <a:rPr lang="vi-VN" dirty="0"/>
              <a:t>2. Sinh viên không làm 01 bài thực hành hoặc chỉ nộp lại đề -&gt; cấm thi</a:t>
            </a:r>
          </a:p>
          <a:p>
            <a:pPr marL="0" indent="0">
              <a:buNone/>
            </a:pPr>
            <a:r>
              <a:rPr lang="vi-VN" dirty="0"/>
              <a:t>3. Sinh viên vắng quá </a:t>
            </a:r>
            <a:r>
              <a:rPr lang="en-US" dirty="0"/>
              <a:t>20%</a:t>
            </a:r>
            <a:r>
              <a:rPr lang="vi-VN" dirty="0"/>
              <a:t> -&gt; cấm thi</a:t>
            </a:r>
          </a:p>
          <a:p>
            <a:pPr marL="0" indent="0" algn="just">
              <a:buNone/>
            </a:pPr>
            <a:r>
              <a:rPr lang="vi-VN" dirty="0"/>
              <a:t>4. Xử lý gian lận: với bài tập lớn và đồ án, nếu phát hiện sinh viên copy bài nhau thì cấm thi tất cả, người copy và người cho copy;</a:t>
            </a:r>
            <a:r>
              <a:rPr lang="en-US" dirty="0"/>
              <a:t> </a:t>
            </a:r>
            <a:r>
              <a:rPr lang="vi-VN" dirty="0"/>
              <a:t>với bài tập về nhà, nếu phát hiện copy lẫn nhau thì cho cả hai, người copy và người cho copy, không điểm.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/>
              <a:t>- 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22093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Final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5 </a:t>
            </a:r>
            <a:r>
              <a:rPr lang="en-US" dirty="0" err="1"/>
              <a:t>người</a:t>
            </a:r>
            <a:endParaRPr lang="en-US" dirty="0"/>
          </a:p>
          <a:p>
            <a:r>
              <a:rPr lang="en-US" dirty="0" err="1"/>
              <a:t>Các</a:t>
            </a:r>
            <a:r>
              <a:rPr lang="en-US" dirty="0"/>
              <a:t> deadline</a:t>
            </a:r>
          </a:p>
          <a:p>
            <a:pPr lvl="1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deadline: </a:t>
            </a:r>
            <a:r>
              <a:rPr lang="en-US" dirty="0" err="1"/>
              <a:t>Wk</a:t>
            </a:r>
            <a:r>
              <a:rPr lang="en-US" dirty="0"/>
              <a:t> 2, Game concept</a:t>
            </a:r>
          </a:p>
          <a:p>
            <a:pPr lvl="1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deadline: </a:t>
            </a:r>
            <a:r>
              <a:rPr lang="en-US" dirty="0" err="1"/>
              <a:t>Wk</a:t>
            </a:r>
            <a:r>
              <a:rPr lang="en-US" dirty="0"/>
              <a:t> 7, Basic working version with progress report</a:t>
            </a:r>
          </a:p>
          <a:p>
            <a:pPr lvl="1"/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deadline: </a:t>
            </a:r>
            <a:r>
              <a:rPr lang="en-US" dirty="0" err="1"/>
              <a:t>Wk</a:t>
            </a:r>
            <a:r>
              <a:rPr lang="en-US" dirty="0"/>
              <a:t> 8, Play testing</a:t>
            </a:r>
          </a:p>
          <a:p>
            <a:pPr lvl="1"/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deadline: </a:t>
            </a:r>
            <a:r>
              <a:rPr lang="en-US" dirty="0" err="1"/>
              <a:t>Wk</a:t>
            </a:r>
            <a:r>
              <a:rPr lang="en-US" dirty="0"/>
              <a:t> 9, Final evaluation</a:t>
            </a:r>
          </a:p>
          <a:p>
            <a:pPr lvl="1"/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deadline: </a:t>
            </a:r>
            <a:r>
              <a:rPr lang="en-US" dirty="0" err="1"/>
              <a:t>Wk</a:t>
            </a:r>
            <a:r>
              <a:rPr lang="en-US" dirty="0"/>
              <a:t> 10, Documented report &amp; poster</a:t>
            </a:r>
            <a:br>
              <a:rPr lang="en-US" dirty="0"/>
            </a:br>
            <a:r>
              <a:rPr lang="en-US" dirty="0"/>
              <a:t>and submit on Classroom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/>
              <a:t>- 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1157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Game Development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: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thảo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game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.</a:t>
            </a:r>
          </a:p>
          <a:p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mình</a:t>
            </a:r>
            <a:endParaRPr lang="en-US" dirty="0"/>
          </a:p>
          <a:p>
            <a:pPr lvl="1"/>
            <a:r>
              <a:rPr lang="en-US" dirty="0"/>
              <a:t>Bonus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tốt</a:t>
            </a:r>
            <a:endParaRPr lang="en-US" dirty="0"/>
          </a:p>
          <a:p>
            <a:pPr lvl="1"/>
            <a:r>
              <a:rPr lang="en-US" dirty="0" err="1"/>
              <a:t>Kèm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3D, AI, Physics</a:t>
            </a:r>
          </a:p>
          <a:p>
            <a:pPr lvl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game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PC, Mobile, Virtual Reality Games (using Oculus Rift)</a:t>
            </a:r>
          </a:p>
          <a:p>
            <a:r>
              <a:rPr lang="en-US" dirty="0"/>
              <a:t>Top 5 game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website</a:t>
            </a:r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game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level, UI, AR, VR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/>
              <a:t>- 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35033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6333138"/>
              </p:ext>
            </p:extLst>
          </p:nvPr>
        </p:nvGraphicFramePr>
        <p:xfrm>
          <a:off x="457201" y="1104863"/>
          <a:ext cx="8229599" cy="5196699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8229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8421">
                <a:tc>
                  <a:txBody>
                    <a:bodyPr/>
                    <a:lstStyle/>
                    <a:p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http://arivu.d2.comp.nus.edu.sg/game/</a:t>
                      </a:r>
                      <a:b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Game development projects of</a:t>
                      </a:r>
                      <a:r>
                        <a:rPr lang="en-US" sz="250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NUS’s students</a:t>
                      </a:r>
                      <a:endParaRPr lang="en-US" sz="2500" dirty="0">
                        <a:solidFill>
                          <a:srgbClr val="4F778B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82" marR="13682" marT="13682" marB="1368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421">
                <a:tc>
                  <a:txBody>
                    <a:bodyPr/>
                    <a:lstStyle/>
                    <a:p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http://arivu.d2.comp.nus.edu.sg/games/</a:t>
                      </a:r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Games – A Blog of Lenses and Tools (Game Analysis with Lenses and Tools)</a:t>
                      </a:r>
                      <a:endParaRPr lang="en-US" sz="2500" dirty="0">
                        <a:solidFill>
                          <a:srgbClr val="4F778B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82" marR="13682" marT="13682" marB="1368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402">
                <a:tc>
                  <a:txBody>
                    <a:bodyPr/>
                    <a:lstStyle/>
                    <a:p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http://www.gamasutra.com</a:t>
                      </a:r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Game Design</a:t>
                      </a:r>
                      <a:endParaRPr lang="en-US" sz="2500" dirty="0">
                        <a:solidFill>
                          <a:srgbClr val="4F778B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82" marR="13682" marT="13682" marB="1368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402">
                <a:tc>
                  <a:txBody>
                    <a:bodyPr/>
                    <a:lstStyle/>
                    <a:p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http://www.gamedev.net</a:t>
                      </a:r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Game Development</a:t>
                      </a:r>
                      <a:endParaRPr lang="en-US" sz="2500" dirty="0">
                        <a:solidFill>
                          <a:srgbClr val="4F778B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82" marR="13682" marT="13682" marB="1368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421">
                <a:tc>
                  <a:txBody>
                    <a:bodyPr/>
                    <a:lstStyle/>
                    <a:p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http://unity3d.com/support/resources/tutorials/</a:t>
                      </a:r>
                      <a:b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Unity3d - Good tutorials for beginners.</a:t>
                      </a:r>
                      <a:endParaRPr lang="en-US" sz="2500" dirty="0">
                        <a:solidFill>
                          <a:srgbClr val="4F778B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82" marR="13682" marT="13682" marB="1368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5439">
                <a:tc>
                  <a:txBody>
                    <a:bodyPr/>
                    <a:lstStyle/>
                    <a:p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http://www.worldofleveldesign.com/categories/cat_3dmodeling.php</a:t>
                      </a:r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Maya: Really </a:t>
                      </a:r>
                      <a:r>
                        <a:rPr lang="en-US" sz="2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really</a:t>
                      </a: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good resource for beginners.</a:t>
                      </a:r>
                      <a:endParaRPr lang="en-US" sz="2500" dirty="0">
                        <a:solidFill>
                          <a:srgbClr val="4F778B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82" marR="13682" marT="13682" marB="1368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2458">
                <a:tc>
                  <a:txBody>
                    <a:bodyPr/>
                    <a:lstStyle/>
                    <a:p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/>
                        </a:rPr>
                        <a:t>http://www.hongkiat.com/blog/100-maya-3d-tutorials-beginners-intermediate-advanced-users/</a:t>
                      </a:r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Maya: Modeling, particle, lightning, rendering of various levels with samples</a:t>
                      </a:r>
                      <a:endParaRPr lang="en-US" sz="2500" dirty="0">
                        <a:solidFill>
                          <a:srgbClr val="4F778B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82" marR="13682" marT="13682" marB="1368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504024 </a:t>
            </a:r>
            <a:r>
              <a:rPr lang="en-US"/>
              <a:t>- 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49170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 eaLnBrk="1" hangingPunct="1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1500" dirty="0">
                <a:latin typeface="Arial" pitchFamily="34" charset="0"/>
                <a:cs typeface="Arial" pitchFamily="34" charset="0"/>
              </a:rPr>
              <a:t>Q&amp;A</a:t>
            </a:r>
            <a:endParaRPr lang="en-US" sz="1150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504024 - INTRODUCTION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15510</TotalTime>
  <Words>1065</Words>
  <Application>Microsoft Macintosh PowerPoint</Application>
  <PresentationFormat>On-screen Show (4:3)</PresentationFormat>
  <Paragraphs>143</Paragraphs>
  <Slides>20</Slides>
  <Notes>17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Тема Office</vt:lpstr>
      <vt:lpstr>Phát triển trò chơi GAME DEVELOPMENT 504076</vt:lpstr>
      <vt:lpstr>THÔNG TIN CHUNG</vt:lpstr>
      <vt:lpstr>Thông tin giáo viên</vt:lpstr>
      <vt:lpstr>Is it right for you?</vt:lpstr>
      <vt:lpstr>TEXTBOOKS</vt:lpstr>
      <vt:lpstr>TEXTBOOKS</vt:lpstr>
      <vt:lpstr>TEXTBOOKS</vt:lpstr>
      <vt:lpstr>TEXTBOOKS</vt:lpstr>
      <vt:lpstr>TEXTBOOKS</vt:lpstr>
      <vt:lpstr>TEXTBOOKS</vt:lpstr>
      <vt:lpstr>TEXTBOOKS</vt:lpstr>
      <vt:lpstr>TEXTBOOKS</vt:lpstr>
      <vt:lpstr>TEXTBOOKS</vt:lpstr>
      <vt:lpstr>COURSE MATERIALS </vt:lpstr>
      <vt:lpstr>ASSESSMENT</vt:lpstr>
      <vt:lpstr>Lưu ý</vt:lpstr>
      <vt:lpstr>Final project</vt:lpstr>
      <vt:lpstr>Game Development Project</vt:lpstr>
      <vt:lpstr>Resources</vt:lpstr>
      <vt:lpstr>PowerPoint Presentation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Microsoft Office User</cp:lastModifiedBy>
  <cp:revision>1104</cp:revision>
  <cp:lastPrinted>2014-07-01T03:51:49Z</cp:lastPrinted>
  <dcterms:created xsi:type="dcterms:W3CDTF">1998-09-05T15:03:32Z</dcterms:created>
  <dcterms:modified xsi:type="dcterms:W3CDTF">2022-08-25T06:28:12Z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